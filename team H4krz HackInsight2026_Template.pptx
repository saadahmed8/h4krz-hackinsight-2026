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ck Insight 2026" id="{D27E10AB-BB75-0403-50BE-A673A1996899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8311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Hack_Insight_2026_Tech_Banner__1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71246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HACK INSIGHT 2026  |  NED University of Engineering &amp; Technology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HACK INSIGHT 2026  |  NED University of Engineering &amp; Technology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Hack_Insight_2026_Tech_Banner__1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712464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/>
              <a:t>Lahore Air Quality Data Warehouse &amp; Decision System</a:t>
            </a:r>
            <a:endParaRPr lang="en-US" sz="3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064A440-C491-5BCF-7744-E908B51E8AFE}"/>
              </a:ext>
            </a:extLst>
          </p:cNvPr>
          <p:cNvSpPr>
            <a:spLocks noGrp="1" noChangeArrowheads="1"/>
          </p:cNvSpPr>
          <p:nvPr>
            <p:ph type="body" idx="102"/>
          </p:nvPr>
        </p:nvSpPr>
        <p:spPr bwMode="auto">
          <a:xfrm>
            <a:off x="457200" y="4501634"/>
            <a:ext cx="464595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 H4krz | Air Quality / Data-to-Decision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Problem Statement</a:t>
            </a:r>
            <a:endParaRPr lang="en-US" sz="3200" dirty="0"/>
          </a:p>
        </p:txBody>
      </p:sp>
      <p:sp>
        <p:nvSpPr>
          <p:cNvPr id="3" name="Problem card"/>
          <p:cNvSpPr/>
          <p:nvPr/>
        </p:nvSpPr>
        <p:spPr>
          <a:xfrm>
            <a:off x="457200" y="1188720"/>
            <a:ext cx="4937760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4389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dirty="0"/>
              <a:t>Hazardous winter smog episodes in Lahore frequently exceed safe pollution thresholds, causing severe respiratory and cardiovascular risks. Citizens, schools, and health officials lack reliable, early-warning insights to make timely protective decisions.</a:t>
            </a:r>
            <a:endParaRPr lang="en-US" sz="1800" dirty="0"/>
          </a:p>
        </p:txBody>
      </p:sp>
      <p:sp>
        <p:nvSpPr>
          <p:cNvPr id="6" name="Side card 1"/>
          <p:cNvSpPr/>
          <p:nvPr/>
        </p:nvSpPr>
        <p:spPr>
          <a:xfrm>
            <a:off x="5669280" y="1188720"/>
            <a:ext cx="301752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7" name="Number 1"/>
          <p:cNvSpPr txBox="1"/>
          <p:nvPr/>
        </p:nvSpPr>
        <p:spPr>
          <a:xfrm>
            <a:off x="5852160" y="15087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352144" y="1280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Who is affected?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352144" y="16733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/>
              <a:t>Residents, school children, and outdoor workers across Lahore districts</a:t>
            </a:r>
          </a:p>
        </p:txBody>
      </p:sp>
      <p:sp>
        <p:nvSpPr>
          <p:cNvPr id="10" name="Side card 2"/>
          <p:cNvSpPr/>
          <p:nvPr/>
        </p:nvSpPr>
        <p:spPr>
          <a:xfrm>
            <a:off x="5669280" y="2331720"/>
            <a:ext cx="301752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1" name="Number 2"/>
          <p:cNvSpPr txBox="1"/>
          <p:nvPr/>
        </p:nvSpPr>
        <p:spPr>
          <a:xfrm>
            <a:off x="5852160" y="26517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352144" y="237533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Why does it matter?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303068" y="2794858"/>
            <a:ext cx="2455038" cy="416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/>
              <a:t>PM2.5 concentrations routinely exceed WHO guidelines by over 10x during smog season, triggering public health emergencies and school shutdowns.</a:t>
            </a:r>
          </a:p>
        </p:txBody>
      </p:sp>
      <p:sp>
        <p:nvSpPr>
          <p:cNvPr id="14" name="Side card 3"/>
          <p:cNvSpPr/>
          <p:nvPr/>
        </p:nvSpPr>
        <p:spPr>
          <a:xfrm>
            <a:off x="5669280" y="3474720"/>
            <a:ext cx="301752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5" name="Number 3"/>
          <p:cNvSpPr txBox="1"/>
          <p:nvPr/>
        </p:nvSpPr>
        <p:spPr>
          <a:xfrm>
            <a:off x="5852160" y="37947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303068" y="3488217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Our goal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300342" y="3899697"/>
            <a:ext cx="2455038" cy="366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/>
              <a:t>Build an automated hourly pipeline, a leak-free predictive model with uncertainty bounds, and a cited RAG assistant to provide trusted early warnings and enforce Punjab EPA school safety rules.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Dataset Declaration</a:t>
            </a:r>
            <a:endParaRPr lang="en-US" sz="3200" dirty="0"/>
          </a:p>
        </p:txBody>
      </p:sp>
      <p:graphicFrame>
        <p:nvGraphicFramePr>
          <p:cNvPr id="4" name="Datase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621763"/>
              </p:ext>
            </p:extLst>
          </p:nvPr>
        </p:nvGraphicFramePr>
        <p:xfrm>
          <a:off x="457200" y="1188720"/>
          <a:ext cx="5486400" cy="3200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Dataset name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/>
                        <a:t>Lahore </a:t>
                      </a:r>
                      <a:r>
                        <a:rPr lang="en-US" sz="1200" dirty="0" err="1"/>
                        <a:t>OpenAQ</a:t>
                      </a:r>
                      <a:r>
                        <a:rPr lang="en-US" sz="1200" dirty="0"/>
                        <a:t> v3 Observations &amp; Open-</a:t>
                      </a:r>
                      <a:r>
                        <a:rPr lang="en-US" sz="1200" dirty="0" err="1"/>
                        <a:t>Meteo</a:t>
                      </a:r>
                      <a:r>
                        <a:rPr lang="en-US" sz="1200" dirty="0"/>
                        <a:t> ERA5 Weather Data</a:t>
                      </a: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Source / link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/>
                        <a:t>https://openaq.org/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Size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/>
                        <a:t>~98,288 grid hours, 75,800 PM2.5 readings across 9 active stations (excluding failed upstream nodes)</a:t>
                      </a: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Time period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/>
                        <a:t>Historical and real-time hourly records up to October 2026</a:t>
                      </a: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Format &amp; license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/>
                        <a:t>Parquet / </a:t>
                      </a:r>
                      <a:r>
                        <a:rPr lang="en-US" sz="1200" dirty="0" err="1"/>
                        <a:t>DuckDB</a:t>
                      </a:r>
                      <a:r>
                        <a:rPr lang="en-US" sz="1200" dirty="0"/>
                        <a:t>, CC BY 4.0 Open Data License</a:t>
                      </a: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Key features / target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/>
                        <a:t>Hourly PM2.5 readings, temperature, relative humidity, wind speed, precipitation, and next-day target (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target_next_day_pm25</a:t>
                      </a:r>
                      <a:r>
                        <a:rPr lang="en-US" sz="1200" dirty="0"/>
                        <a:t>)</a:t>
                      </a: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Stat card 1"/>
          <p:cNvSpPr/>
          <p:nvPr/>
        </p:nvSpPr>
        <p:spPr>
          <a:xfrm>
            <a:off x="6217920" y="1188720"/>
            <a:ext cx="246888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217920" y="12984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98,288</a:t>
            </a:r>
          </a:p>
        </p:txBody>
      </p:sp>
      <p:sp>
        <p:nvSpPr>
          <p:cNvPr id="6" name="Text 3"/>
          <p:cNvSpPr txBox="1"/>
          <p:nvPr/>
        </p:nvSpPr>
        <p:spPr>
          <a:xfrm>
            <a:off x="6217920" y="1828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4"/>
                </a:solidFill>
              </a:rPr>
              <a:t>Rows / records</a:t>
            </a:r>
            <a:endParaRPr lang="en-US" sz="1200" dirty="0"/>
          </a:p>
        </p:txBody>
      </p:sp>
      <p:sp>
        <p:nvSpPr>
          <p:cNvPr id="7" name="Stat card 2"/>
          <p:cNvSpPr/>
          <p:nvPr/>
        </p:nvSpPr>
        <p:spPr>
          <a:xfrm>
            <a:off x="6217920" y="2331720"/>
            <a:ext cx="246888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217920" y="24414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</a:rPr>
              <a:t>[14]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6217920" y="2971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4"/>
                </a:solidFill>
              </a:rPr>
              <a:t>Columns / features</a:t>
            </a:r>
            <a:endParaRPr lang="en-US" sz="1200" dirty="0"/>
          </a:p>
        </p:txBody>
      </p:sp>
      <p:sp>
        <p:nvSpPr>
          <p:cNvPr id="10" name="Stat card 3"/>
          <p:cNvSpPr/>
          <p:nvPr/>
        </p:nvSpPr>
        <p:spPr>
          <a:xfrm>
            <a:off x="6217920" y="3474720"/>
            <a:ext cx="246888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217920" y="35844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</a:rPr>
              <a:t>[~0.5 GB]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6217920" y="4114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4"/>
                </a:solidFill>
              </a:rPr>
              <a:t>Dataset size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Pipeline Used</a:t>
            </a:r>
            <a:endParaRPr lang="en-US" sz="3200" dirty="0"/>
          </a:p>
        </p:txBody>
      </p:sp>
      <p:sp>
        <p:nvSpPr>
          <p:cNvPr id="3" name="Stage card 1"/>
          <p:cNvSpPr/>
          <p:nvPr/>
        </p:nvSpPr>
        <p:spPr>
          <a:xfrm>
            <a:off x="457200" y="1280160"/>
            <a:ext cx="1417320" cy="237744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4" name="Stage number 1"/>
          <p:cNvSpPr txBox="1"/>
          <p:nvPr/>
        </p:nvSpPr>
        <p:spPr>
          <a:xfrm>
            <a:off x="982980" y="14630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Data Collection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6888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000" dirty="0"/>
              <a:t>Incremental hourly fetches from </a:t>
            </a:r>
            <a:r>
              <a:rPr lang="en-US" sz="1000" dirty="0" err="1"/>
              <a:t>OpenAQ</a:t>
            </a:r>
            <a:r>
              <a:rPr lang="en-US" sz="1000" dirty="0"/>
              <a:t> v3 sensors and Open-</a:t>
            </a:r>
            <a:r>
              <a:rPr lang="en-US" sz="1000" dirty="0" err="1"/>
              <a:t>Meteo</a:t>
            </a:r>
            <a:r>
              <a:rPr lang="en-US" sz="1000" dirty="0"/>
              <a:t> weather APIs into immutable raw JSON storage (data/raw/)</a:t>
            </a:r>
          </a:p>
        </p:txBody>
      </p:sp>
      <p:sp>
        <p:nvSpPr>
          <p:cNvPr id="7" name="Arrow 1"/>
          <p:cNvSpPr/>
          <p:nvPr/>
        </p:nvSpPr>
        <p:spPr>
          <a:xfrm>
            <a:off x="1920240" y="2377440"/>
            <a:ext cx="182880" cy="22860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8" name="Stage card 2"/>
          <p:cNvSpPr/>
          <p:nvPr/>
        </p:nvSpPr>
        <p:spPr>
          <a:xfrm>
            <a:off x="2148840" y="1280160"/>
            <a:ext cx="1417320" cy="237744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9" name="Stage number 2"/>
          <p:cNvSpPr txBox="1"/>
          <p:nvPr/>
        </p:nvSpPr>
        <p:spPr>
          <a:xfrm>
            <a:off x="2674620" y="14630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240280" y="19659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Data Cleaning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263140" y="2327106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000" dirty="0" err="1"/>
              <a:t>Pandera</a:t>
            </a:r>
            <a:r>
              <a:rPr lang="en-US" sz="1000" dirty="0"/>
              <a:t> schema enforcement, UTC-to-PKT conversion, missing weather alignment, and non-fatal flagging via the Data Quality Agent (logs/dq_log.csv).</a:t>
            </a:r>
          </a:p>
        </p:txBody>
      </p:sp>
      <p:sp>
        <p:nvSpPr>
          <p:cNvPr id="12" name="Arrow 2"/>
          <p:cNvSpPr/>
          <p:nvPr/>
        </p:nvSpPr>
        <p:spPr>
          <a:xfrm>
            <a:off x="3611880" y="2377440"/>
            <a:ext cx="182880" cy="22860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3" name="Stage card 3"/>
          <p:cNvSpPr/>
          <p:nvPr/>
        </p:nvSpPr>
        <p:spPr>
          <a:xfrm>
            <a:off x="3840480" y="1280160"/>
            <a:ext cx="1417320" cy="237744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4" name="Stage number 3"/>
          <p:cNvSpPr txBox="1"/>
          <p:nvPr/>
        </p:nvSpPr>
        <p:spPr>
          <a:xfrm>
            <a:off x="4366260" y="14630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931920" y="19659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Analysis / EDA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931920" y="253746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050" dirty="0"/>
              <a:t>Midnight-to-midnight PKT day aggregation enforcing the strict 18-of-24 valid hours completeness rule.</a:t>
            </a:r>
          </a:p>
        </p:txBody>
      </p:sp>
      <p:sp>
        <p:nvSpPr>
          <p:cNvPr id="17" name="Arrow 3"/>
          <p:cNvSpPr/>
          <p:nvPr/>
        </p:nvSpPr>
        <p:spPr>
          <a:xfrm>
            <a:off x="5303520" y="2377440"/>
            <a:ext cx="182880" cy="22860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8" name="Stage card 4"/>
          <p:cNvSpPr/>
          <p:nvPr/>
        </p:nvSpPr>
        <p:spPr>
          <a:xfrm>
            <a:off x="5532120" y="1280160"/>
            <a:ext cx="1417320" cy="237744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9" name="Stage number 4"/>
          <p:cNvSpPr txBox="1"/>
          <p:nvPr/>
        </p:nvSpPr>
        <p:spPr>
          <a:xfrm>
            <a:off x="6057900" y="14630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623560" y="19659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Modeling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592311" y="2327106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00" dirty="0"/>
              <a:t>Leak-free Histogram </a:t>
            </a:r>
            <a:r>
              <a:rPr lang="en-US" sz="900" dirty="0" err="1"/>
              <a:t>GradientBoosting</a:t>
            </a:r>
            <a:r>
              <a:rPr lang="en-US" sz="900" dirty="0"/>
              <a:t> Regressor (</a:t>
            </a:r>
            <a:r>
              <a:rPr lang="en-US" sz="900" dirty="0" err="1"/>
              <a:t>HistGradientBoosting_ResidualDelta</a:t>
            </a:r>
            <a:r>
              <a:rPr lang="en-US" sz="900" dirty="0"/>
              <a:t>) predicting day-to-day PM2.5 residual changes with 80% pinball loss uncertainty bounds.</a:t>
            </a:r>
          </a:p>
        </p:txBody>
      </p:sp>
      <p:sp>
        <p:nvSpPr>
          <p:cNvPr id="22" name="Arrow 4"/>
          <p:cNvSpPr/>
          <p:nvPr/>
        </p:nvSpPr>
        <p:spPr>
          <a:xfrm>
            <a:off x="6995160" y="2377440"/>
            <a:ext cx="182880" cy="22860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3" name="Stage card 5"/>
          <p:cNvSpPr/>
          <p:nvPr/>
        </p:nvSpPr>
        <p:spPr>
          <a:xfrm>
            <a:off x="7223760" y="1280160"/>
            <a:ext cx="1417320" cy="237744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24" name="Stage number 5"/>
          <p:cNvSpPr txBox="1"/>
          <p:nvPr/>
        </p:nvSpPr>
        <p:spPr>
          <a:xfrm>
            <a:off x="7749540" y="14630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0" y="19659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Dashboard / App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246888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000" dirty="0"/>
              <a:t>live </a:t>
            </a:r>
            <a:r>
              <a:rPr lang="en-US" sz="1000" dirty="0" err="1"/>
              <a:t>Streamlit</a:t>
            </a:r>
            <a:r>
              <a:rPr lang="en-US" sz="1000" dirty="0"/>
              <a:t> dashboard deployed publicly on Hugging Face Spaces featuring freshness badges and an Urdu translation toggle.</a:t>
            </a:r>
          </a:p>
        </p:txBody>
      </p:sp>
      <p:sp>
        <p:nvSpPr>
          <p:cNvPr id="27" name="Summary bar"/>
          <p:cNvSpPr/>
          <p:nvPr/>
        </p:nvSpPr>
        <p:spPr>
          <a:xfrm>
            <a:off x="457200" y="38862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tx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31520" y="38862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Raw hourly sensor JSONs </a:t>
            </a:r>
            <a:r>
              <a:rPr lang="en-US" sz="1400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en-US" sz="1400" dirty="0">
                <a:solidFill>
                  <a:schemeClr val="bg1"/>
                </a:solidFill>
              </a:rPr>
              <a:t>Validated PKT daily mart </a:t>
            </a:r>
            <a:r>
              <a:rPr lang="en-US" sz="1400" dirty="0">
                <a:solidFill>
                  <a:schemeClr val="bg1"/>
                </a:solidFill>
                <a:sym typeface="Wingdings" panose="05000000000000000000" pitchFamily="2" charset="2"/>
              </a:rPr>
              <a:t> 	c</a:t>
            </a:r>
            <a:r>
              <a:rPr lang="en-US" sz="1400" dirty="0">
                <a:solidFill>
                  <a:schemeClr val="bg1"/>
                </a:solidFill>
              </a:rPr>
              <a:t>ited RAG alerts &amp; PM2.5 forecasts.</a:t>
            </a:r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Pipeline Details &amp; Tools</a:t>
            </a:r>
            <a:endParaRPr lang="en-US" sz="3200" dirty="0"/>
          </a:p>
        </p:txBody>
      </p:sp>
      <p:graphicFrame>
        <p:nvGraphicFramePr>
          <p:cNvPr id="6" name="Tool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134962"/>
              </p:ext>
            </p:extLst>
          </p:nvPr>
        </p:nvGraphicFramePr>
        <p:xfrm>
          <a:off x="457200" y="1188720"/>
          <a:ext cx="8229600" cy="343814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Stage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Tools / Libraries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What we did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Collection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/>
                        <a:t>Requests, Python, Prefect</a:t>
                      </a: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[1 line on the approach and why]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Preprocessing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Pandas, </a:t>
                      </a:r>
                      <a:r>
                        <a:rPr lang="en-US" sz="1200" dirty="0" err="1"/>
                        <a:t>Pandera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DuckDB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/>
                        <a:t>nforced</a:t>
                      </a:r>
                      <a:r>
                        <a:rPr lang="en-US" sz="1200" dirty="0"/>
                        <a:t> schema validation, 18/24-hour completeness rule, and deterministic SHA-256 record IDs.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Analysis / EDA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Pandas, NumPy, </a:t>
                      </a:r>
                      <a:r>
                        <a:rPr lang="en-US" sz="1200" dirty="0" err="1"/>
                        <a:t>Streamlit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Aggregated station-level daily metrics and mapped Punjab EPA school safety thresholds.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Modeling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/>
                        <a:t>Scikit-Learn (</a:t>
                      </a:r>
                      <a:r>
                        <a:rPr lang="en-US" sz="1200" dirty="0" err="1"/>
                        <a:t>HistGradientBoosting</a:t>
                      </a:r>
                      <a:r>
                        <a:rPr lang="en-US" sz="1200" dirty="0"/>
                        <a:t>)</a:t>
                      </a: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/>
                        <a:t>Trained a leak-free residual model achieving 12.594 Test MAE (+7.35% improvement over baseline) with 76.8% uncertainty coverage.</a:t>
                      </a: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Dashboard / App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/>
                        <a:t>Streamlit</a:t>
                      </a:r>
                      <a:r>
                        <a:rPr lang="en-US" sz="1200" dirty="0"/>
                        <a:t>, BM25 / RAG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Developed a 3-tab live monitoring dashboard with a cited RAG policy assistant and Urdu local guidance.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Dashboard / App Views</a:t>
            </a:r>
            <a:endParaRPr lang="en-US" sz="3200" dirty="0"/>
          </a:p>
        </p:txBody>
      </p:sp>
      <p:sp>
        <p:nvSpPr>
          <p:cNvPr id="3" name="Screenshot 1"/>
          <p:cNvSpPr/>
          <p:nvPr/>
        </p:nvSpPr>
        <p:spPr>
          <a:xfrm>
            <a:off x="457200" y="1188720"/>
            <a:ext cx="4937760" cy="292608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457200" y="23317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6974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6" name="Screenshot 2"/>
          <p:cNvSpPr/>
          <p:nvPr/>
        </p:nvSpPr>
        <p:spPr>
          <a:xfrm>
            <a:off x="5577840" y="1188720"/>
            <a:ext cx="310896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557784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1920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9" name="Screenshot 3"/>
          <p:cNvSpPr/>
          <p:nvPr/>
        </p:nvSpPr>
        <p:spPr>
          <a:xfrm>
            <a:off x="5577840" y="2743200"/>
            <a:ext cx="310896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5577840" y="3108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577840" y="3474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chemeClr val="accent6"/>
                </a:solidFill>
              </a:rPr>
              <a:t>Live demo / repo link: </a:t>
            </a:r>
            <a:r>
              <a:rPr lang="en-US" sz="1200" dirty="0"/>
              <a:t>https://huggingface.co/spaces/hasanshahir/lahore-air-quality-decision-system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1C4BC77-2E34-A882-289F-410C6EC00E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009" y="1220331"/>
            <a:ext cx="3108961" cy="145241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157A35F-0EA8-5B1E-E614-92D816D7BC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4494" y="2722211"/>
            <a:ext cx="3108961" cy="136785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380C5F7-9D90-F3D3-1BDF-355D6D8275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9740" y="1193657"/>
            <a:ext cx="2698738" cy="138952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CE2879A-5964-1CEA-0D90-7E4BC7658A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6162" y="2768623"/>
            <a:ext cx="2812316" cy="12720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3" name="Finding card 1"/>
          <p:cNvSpPr/>
          <p:nvPr/>
        </p:nvSpPr>
        <p:spPr>
          <a:xfrm>
            <a:off x="457200" y="1188720"/>
            <a:ext cx="51206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4" name="Finding number 1"/>
          <p:cNvSpPr txBox="1"/>
          <p:nvPr/>
        </p:nvSpPr>
        <p:spPr>
          <a:xfrm>
            <a:off x="640080" y="15087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3258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Key finding 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7358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/>
              <a:t>The leak-free Histogram Gradient Boosting model achieved a Test MAE of 12.594 µg/m³, representing a </a:t>
            </a:r>
            <a:r>
              <a:rPr lang="en-US" sz="1000" b="1" dirty="0"/>
              <a:t>7.35% improvement</a:t>
            </a:r>
            <a:r>
              <a:rPr lang="en-US" sz="1000" dirty="0"/>
              <a:t> over the persistence baseline.</a:t>
            </a:r>
          </a:p>
        </p:txBody>
      </p:sp>
      <p:sp>
        <p:nvSpPr>
          <p:cNvPr id="7" name="Finding card 2"/>
          <p:cNvSpPr/>
          <p:nvPr/>
        </p:nvSpPr>
        <p:spPr>
          <a:xfrm>
            <a:off x="457200" y="2331720"/>
            <a:ext cx="51206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8" name="Finding number 2"/>
          <p:cNvSpPr txBox="1"/>
          <p:nvPr/>
        </p:nvSpPr>
        <p:spPr>
          <a:xfrm>
            <a:off x="640080" y="26517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4688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Key finding 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8803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/>
              <a:t>Uncertainty quantification using 10th and 90th percentile pinball loss successfully delivered an empirical test coverage of </a:t>
            </a:r>
            <a:r>
              <a:rPr lang="en-US" sz="1000" b="1"/>
              <a:t>76.8%</a:t>
            </a:r>
            <a:r>
              <a:rPr lang="en-US" sz="1000"/>
              <a:t> for 80% prediction intervals.</a:t>
            </a:r>
            <a:endParaRPr lang="en-US" sz="1000" dirty="0"/>
          </a:p>
        </p:txBody>
      </p:sp>
      <p:sp>
        <p:nvSpPr>
          <p:cNvPr id="11" name="Finding card 3"/>
          <p:cNvSpPr/>
          <p:nvPr/>
        </p:nvSpPr>
        <p:spPr>
          <a:xfrm>
            <a:off x="457200" y="3474720"/>
            <a:ext cx="51206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2" name="Finding number 3"/>
          <p:cNvSpPr txBox="1"/>
          <p:nvPr/>
        </p:nvSpPr>
        <p:spPr>
          <a:xfrm>
            <a:off x="640080" y="37947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6118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Key finding 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40233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/>
              <a:t>The RAG Insight Agent achieved strict 100% ground-truth citation adherence, pulling exact primary keys (</a:t>
            </a:r>
            <a:r>
              <a:rPr lang="en-US" sz="1000" dirty="0" err="1"/>
              <a:t>record_id</a:t>
            </a:r>
            <a:r>
              <a:rPr lang="en-US" sz="1000" dirty="0"/>
              <a:t>) from gold tables and safely abstaining on ungrounded queries.</a:t>
            </a:r>
          </a:p>
        </p:txBody>
      </p:sp>
      <p:sp>
        <p:nvSpPr>
          <p:cNvPr id="15" name="Impact card"/>
          <p:cNvSpPr/>
          <p:nvPr/>
        </p:nvSpPr>
        <p:spPr>
          <a:xfrm>
            <a:off x="5852160" y="1188720"/>
            <a:ext cx="2834640" cy="160020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080760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IMPACT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080760" y="17373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dirty="0">
                <a:solidFill>
                  <a:schemeClr val="bg1"/>
                </a:solidFill>
              </a:rPr>
              <a:t>Empowers school administrators, district health officers, and citizens in Lahore with verifiable, real-time pollution tracking and automated Punjab EPA advisory compliance.</a:t>
            </a:r>
          </a:p>
        </p:txBody>
      </p:sp>
      <p:sp>
        <p:nvSpPr>
          <p:cNvPr id="18" name="Future work card"/>
          <p:cNvSpPr/>
          <p:nvPr/>
        </p:nvSpPr>
        <p:spPr>
          <a:xfrm>
            <a:off x="5852160" y="2880360"/>
            <a:ext cx="283464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080760" y="3063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FUTURE WORK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080760" y="34290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/>
              <a:t>Integrate satellite aerosol optical depth (AOD) data and expand sensor node coverage across secondary Punjab districts.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Team &amp; Credits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4"/>
                </a:solidFill>
              </a:rPr>
              <a:t>[TEAM H4krz]</a:t>
            </a:r>
            <a:endParaRPr lang="en-US" sz="2800" dirty="0"/>
          </a:p>
        </p:txBody>
      </p:sp>
      <p:sp>
        <p:nvSpPr>
          <p:cNvPr id="4" name="Member card 1"/>
          <p:cNvSpPr/>
          <p:nvPr/>
        </p:nvSpPr>
        <p:spPr>
          <a:xfrm>
            <a:off x="457200" y="1828800"/>
            <a:ext cx="1920240" cy="1783080"/>
          </a:xfrm>
          <a:prstGeom prst="roundRect">
            <a:avLst>
              <a:gd name="adj" fmla="val 5128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5" name="Avatar 1"/>
          <p:cNvSpPr txBox="1"/>
          <p:nvPr/>
        </p:nvSpPr>
        <p:spPr>
          <a:xfrm>
            <a:off x="1097280" y="20116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SA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24115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/>
              <a:t>M . SAAD AHMED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548640" y="3154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[Lead Software Engineer &amp; Data Architect | CT 25089]</a:t>
            </a:r>
          </a:p>
        </p:txBody>
      </p:sp>
      <p:sp>
        <p:nvSpPr>
          <p:cNvPr id="8" name="Member card 2"/>
          <p:cNvSpPr/>
          <p:nvPr/>
        </p:nvSpPr>
        <p:spPr>
          <a:xfrm>
            <a:off x="2560320" y="1828800"/>
            <a:ext cx="1920240" cy="1783080"/>
          </a:xfrm>
          <a:prstGeom prst="roundRect">
            <a:avLst>
              <a:gd name="adj" fmla="val 5128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9" name="Avatar 2"/>
          <p:cNvSpPr txBox="1"/>
          <p:nvPr/>
        </p:nvSpPr>
        <p:spPr>
          <a:xfrm>
            <a:off x="3200400" y="20116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HS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2740893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/>
              <a:t>HASAN SHAHIR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2651760" y="323668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[Automation &amp; </a:t>
            </a:r>
            <a:r>
              <a:rPr lang="en-US" sz="1200" dirty="0" err="1">
                <a:solidFill>
                  <a:schemeClr val="bg1"/>
                </a:solidFill>
              </a:rPr>
              <a:t>MLOps</a:t>
            </a:r>
            <a:r>
              <a:rPr lang="en-US" sz="1200" dirty="0">
                <a:solidFill>
                  <a:schemeClr val="bg1"/>
                </a:solidFill>
              </a:rPr>
              <a:t> Lead| CT 25095]</a:t>
            </a:r>
          </a:p>
          <a:p>
            <a:pPr marL="0" indent="0" algn="ctr">
              <a:buNone/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2" name="Member card 3"/>
          <p:cNvSpPr/>
          <p:nvPr/>
        </p:nvSpPr>
        <p:spPr>
          <a:xfrm>
            <a:off x="4663440" y="1828800"/>
            <a:ext cx="1920240" cy="1783080"/>
          </a:xfrm>
          <a:prstGeom prst="roundRect">
            <a:avLst>
              <a:gd name="adj" fmla="val 5128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13" name="Avatar 3"/>
          <p:cNvSpPr txBox="1"/>
          <p:nvPr/>
        </p:nvSpPr>
        <p:spPr>
          <a:xfrm>
            <a:off x="5303520" y="20116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NK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2740893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NOMAN KHURSHEED</a:t>
            </a:r>
          </a:p>
        </p:txBody>
      </p:sp>
      <p:sp>
        <p:nvSpPr>
          <p:cNvPr id="15" name="Text 13"/>
          <p:cNvSpPr txBox="1"/>
          <p:nvPr/>
        </p:nvSpPr>
        <p:spPr>
          <a:xfrm>
            <a:off x="4754880" y="3154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</a:rPr>
              <a:t>[Lead Machine Learning &amp; AI Systems Engineer| CT 25093]</a:t>
            </a:r>
          </a:p>
        </p:txBody>
      </p:sp>
      <p:sp>
        <p:nvSpPr>
          <p:cNvPr id="16" name="Member card 4"/>
          <p:cNvSpPr/>
          <p:nvPr/>
        </p:nvSpPr>
        <p:spPr>
          <a:xfrm>
            <a:off x="6766560" y="1828800"/>
            <a:ext cx="1920240" cy="1783080"/>
          </a:xfrm>
          <a:prstGeom prst="roundRect">
            <a:avLst>
              <a:gd name="adj" fmla="val 5128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17" name="Avatar 4"/>
          <p:cNvSpPr txBox="1"/>
          <p:nvPr/>
        </p:nvSpPr>
        <p:spPr>
          <a:xfrm>
            <a:off x="7406640" y="20116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AB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2724115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/>
              <a:t>ARBISH</a:t>
            </a:r>
          </a:p>
        </p:txBody>
      </p:sp>
      <p:sp>
        <p:nvSpPr>
          <p:cNvPr id="19" name="Text 17"/>
          <p:cNvSpPr txBox="1"/>
          <p:nvPr/>
        </p:nvSpPr>
        <p:spPr>
          <a:xfrm>
            <a:off x="6858000" y="3108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[Technical Documentation &amp; Compliance Specialist| CT 25053]</a:t>
            </a:r>
          </a:p>
        </p:txBody>
      </p:sp>
      <p:sp>
        <p:nvSpPr>
          <p:cNvPr id="20" name="Text 18"/>
          <p:cNvSpPr txBox="1"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Contact: https://github.com/SaadAhmed8/h4krz-hackinsight-2026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Thank you!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ckInsight">
  <a:themeElements>
    <a:clrScheme name="HackInsight">
      <a:dk1>
        <a:srgbClr val="151515"/>
      </a:dk1>
      <a:lt1>
        <a:srgbClr val="FFFFFF"/>
      </a:lt1>
      <a:dk2>
        <a:srgbClr val="0B5D2A"/>
      </a:dk2>
      <a:lt2>
        <a:srgbClr val="EAF6EE"/>
      </a:lt2>
      <a:accent1>
        <a:srgbClr val="1FA84F"/>
      </a:accent1>
      <a:accent2>
        <a:srgbClr val="0B5D2A"/>
      </a:accent2>
      <a:accent3>
        <a:srgbClr val="151515"/>
      </a:accent3>
      <a:accent4>
        <a:srgbClr val="8FD9A8"/>
      </a:accent4>
      <a:accent5>
        <a:srgbClr val="F2B632"/>
      </a:accent5>
      <a:accent6>
        <a:srgbClr val="5F6B66"/>
      </a:accent6>
      <a:hlink>
        <a:srgbClr val="1FA84F"/>
      </a:hlink>
      <a:folHlink>
        <a:srgbClr val="0B5D2A"/>
      </a:folHlink>
    </a:clrScheme>
    <a:fontScheme name="HackInsigh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754</Words>
  <Application>Microsoft Office PowerPoint</Application>
  <PresentationFormat>On-screen Show (16:9)</PresentationFormat>
  <Paragraphs>116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Wingdings</vt:lpstr>
      <vt:lpstr>HackInsight</vt:lpstr>
      <vt:lpstr>Lahore Air Quality Data Warehouse &amp; Decision System</vt:lpstr>
      <vt:lpstr>Problem Statement</vt:lpstr>
      <vt:lpstr>Dataset Declaration</vt:lpstr>
      <vt:lpstr>Pipeline Used</vt:lpstr>
      <vt:lpstr>Pipeline Details &amp; Tools</vt:lpstr>
      <vt:lpstr>Dashboard / App Views</vt:lpstr>
      <vt:lpstr>Conclusion</vt:lpstr>
      <vt:lpstr>Team &amp; Credits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 Insight 2026 - Team Template</dc:title>
  <dc:subject>PptxGenJS Presentation</dc:subject>
  <dc:creator>PptxGenJS</dc:creator>
  <cp:lastModifiedBy>HP</cp:lastModifiedBy>
  <cp:revision>4</cp:revision>
  <dcterms:created xsi:type="dcterms:W3CDTF">2026-10-21T15:16:12Z</dcterms:created>
  <dcterms:modified xsi:type="dcterms:W3CDTF">2026-10-21T18:21:51Z</dcterms:modified>
</cp:coreProperties>
</file>